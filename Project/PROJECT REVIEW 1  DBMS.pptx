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p:scale>
          <a:sx n="58" d="100"/>
          <a:sy n="58" d="100"/>
        </p:scale>
        <p:origin x="476" y="6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20-08-2026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20-08-2026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20-08-2026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20-08-2026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20-08-2026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20-08-2026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20-08-2026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20-08-2026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20-08-2026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20-08-2026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20-08-2026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20-08-2026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20-08-2026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20-08-2026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20-08-2026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20-08-2026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20-08-2026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689274" y="340555"/>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b="1" dirty="0">
                <a:cs typeface="Arial" panose="020B0604020202020204" pitchFamily="34" charset="0"/>
              </a:rPr>
            </a:br>
            <a:r>
              <a:rPr lang="en-US" sz="2800" b="1" dirty="0"/>
              <a:t>Smart Blood Bank and Donor Locator Management System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574653191"/>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2520030129</a:t>
                      </a:r>
                    </a:p>
                  </a:txBody>
                  <a:tcPr/>
                </a:tc>
                <a:tc>
                  <a:txBody>
                    <a:bodyPr/>
                    <a:lstStyle/>
                    <a:p>
                      <a:r>
                        <a:rPr lang="en-US" dirty="0"/>
                        <a:t>ONNA SAI SUJITH</a:t>
                      </a:r>
                    </a:p>
                  </a:txBody>
                  <a:tcPr/>
                </a:tc>
                <a:extLst>
                  <a:ext uri="{0D108BD9-81ED-4DB2-BD59-A6C34878D82A}">
                    <a16:rowId xmlns:a16="http://schemas.microsoft.com/office/drawing/2014/main" val="253518174"/>
                  </a:ext>
                </a:extLst>
              </a:tr>
              <a:tr h="370840">
                <a:tc>
                  <a:txBody>
                    <a:bodyPr/>
                    <a:lstStyle/>
                    <a:p>
                      <a:r>
                        <a:rPr lang="en-US" dirty="0"/>
                        <a:t>2520030435</a:t>
                      </a:r>
                    </a:p>
                  </a:txBody>
                  <a:tcPr/>
                </a:tc>
                <a:tc>
                  <a:txBody>
                    <a:bodyPr/>
                    <a:lstStyle/>
                    <a:p>
                      <a:r>
                        <a:rPr lang="en-US" dirty="0"/>
                        <a:t>SHAIK JUNEETH</a:t>
                      </a:r>
                    </a:p>
                  </a:txBody>
                  <a:tcPr/>
                </a:tc>
                <a:extLst>
                  <a:ext uri="{0D108BD9-81ED-4DB2-BD59-A6C34878D82A}">
                    <a16:rowId xmlns:a16="http://schemas.microsoft.com/office/drawing/2014/main" val="2413438055"/>
                  </a:ext>
                </a:extLst>
              </a:tr>
              <a:tr h="370840">
                <a:tc>
                  <a:txBody>
                    <a:bodyPr/>
                    <a:lstStyle/>
                    <a:p>
                      <a:r>
                        <a:rPr lang="en-US" dirty="0"/>
                        <a:t>2520030356</a:t>
                      </a:r>
                    </a:p>
                  </a:txBody>
                  <a:tcPr/>
                </a:tc>
                <a:tc>
                  <a:txBody>
                    <a:bodyPr/>
                    <a:lstStyle/>
                    <a:p>
                      <a:r>
                        <a:rPr lang="en-US" dirty="0"/>
                        <a:t>CHARITH KANAKAMEDALA</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NUMBER:13</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966360399"/>
              </p:ext>
            </p:extLst>
          </p:nvPr>
        </p:nvGraphicFramePr>
        <p:xfrm>
          <a:off x="1251334" y="1548396"/>
          <a:ext cx="10091450" cy="3422640"/>
        </p:xfrm>
        <a:graphic>
          <a:graphicData uri="http://schemas.openxmlformats.org/drawingml/2006/table">
            <a:tbl>
              <a:tblPr firstRow="1" bandRow="1">
                <a:tableStyleId>{5A111915-BE36-4E01-A7E5-04B1672EAD32}</a:tableStyleId>
              </a:tblPr>
              <a:tblGrid>
                <a:gridCol w="5029658">
                  <a:extLst>
                    <a:ext uri="{9D8B030D-6E8A-4147-A177-3AD203B41FA5}">
                      <a16:colId xmlns:a16="http://schemas.microsoft.com/office/drawing/2014/main" val="446563831"/>
                    </a:ext>
                  </a:extLst>
                </a:gridCol>
                <a:gridCol w="5061792">
                  <a:extLst>
                    <a:ext uri="{9D8B030D-6E8A-4147-A177-3AD203B41FA5}">
                      <a16:colId xmlns:a16="http://schemas.microsoft.com/office/drawing/2014/main" val="4175382372"/>
                    </a:ext>
                  </a:extLst>
                </a:gridCol>
              </a:tblGrid>
              <a:tr h="618480">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8861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ONNA SAI SUJITH</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dirty="0"/>
                        <a:t>Backend Development &amp; Database Management</a:t>
                      </a:r>
                      <a:endParaRPr 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886171">
                <a:tc>
                  <a:txBody>
                    <a:bodyPr/>
                    <a:lstStyle/>
                    <a:p>
                      <a:r>
                        <a:rPr lang="en-US" dirty="0"/>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SHAIK JUNEETH</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a:t>
                      </a:r>
                    </a:p>
                    <a:p>
                      <a:pPr algn="ctr"/>
                      <a:r>
                        <a:rPr lang="en-US" dirty="0"/>
                        <a:t>Frontend Development &amp; UI Design</a:t>
                      </a:r>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8861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 CHARITH KANAKAMEDALA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b="0" dirty="0"/>
                        <a:t>        System Analysis, Testing &amp; Documentation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Smart Blood Bank and Donor Locator Management System is a web-based platform designed to simplify blood donation and blood-request management. The system maintains donor and blood-stock information and helps patients or hospitals locate suitable blood donors based on blood group and location.</a:t>
            </a:r>
          </a:p>
          <a:p>
            <a:r>
              <a:rPr lang="en-US" dirty="0">
                <a:latin typeface="Times New Roman" panose="02020603050405020304" pitchFamily="18" charset="0"/>
                <a:cs typeface="Times New Roman" panose="02020603050405020304" pitchFamily="18" charset="0"/>
              </a:rPr>
              <a:t>The system provides features such as donor registration, blood availability checking, donor searching, blood requests, notifications, and blood-bank management. It aims to reduce the time required to find suitable donors and improve the efficiency of blood availability management.</a:t>
            </a:r>
          </a:p>
          <a:p>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Blood is an essential medical resource required during accidents, surgeries, emergencies, and various medical treatments. Finding the required blood group quickly can be difficult when information is scattered across different blood banks and donor networks.</a:t>
            </a:r>
          </a:p>
          <a:p>
            <a:r>
              <a:rPr lang="en-US" dirty="0">
                <a:latin typeface="Times New Roman" panose="02020603050405020304" pitchFamily="18" charset="0"/>
                <a:cs typeface="Times New Roman" panose="02020603050405020304" pitchFamily="18" charset="0"/>
              </a:rPr>
              <a:t>The proposed Smart Blood Bank and Donor Locator Management System provides a centralized platform where:</a:t>
            </a:r>
          </a:p>
          <a:p>
            <a:pPr lvl="0"/>
            <a:r>
              <a:rPr lang="en-US" dirty="0">
                <a:latin typeface="Times New Roman" panose="02020603050405020304" pitchFamily="18" charset="0"/>
                <a:cs typeface="Times New Roman" panose="02020603050405020304" pitchFamily="18" charset="0"/>
              </a:rPr>
              <a:t>Donors can register and maintain their details. </a:t>
            </a:r>
          </a:p>
          <a:p>
            <a:pPr lvl="0"/>
            <a:r>
              <a:rPr lang="en-US" dirty="0">
                <a:latin typeface="Times New Roman" panose="02020603050405020304" pitchFamily="18" charset="0"/>
                <a:cs typeface="Times New Roman" panose="02020603050405020304" pitchFamily="18" charset="0"/>
              </a:rPr>
              <a:t>Users can search for donors based on blood group and location. </a:t>
            </a:r>
          </a:p>
          <a:p>
            <a:pPr lvl="0"/>
            <a:r>
              <a:rPr lang="en-US" dirty="0">
                <a:latin typeface="Times New Roman" panose="02020603050405020304" pitchFamily="18" charset="0"/>
                <a:cs typeface="Times New Roman" panose="02020603050405020304" pitchFamily="18" charset="0"/>
              </a:rPr>
              <a:t>Blood banks can manage available blood units. </a:t>
            </a:r>
          </a:p>
          <a:p>
            <a:pPr lvl="0"/>
            <a:r>
              <a:rPr lang="en-US" dirty="0">
                <a:latin typeface="Times New Roman" panose="02020603050405020304" pitchFamily="18" charset="0"/>
                <a:cs typeface="Times New Roman" panose="02020603050405020304" pitchFamily="18" charset="0"/>
              </a:rPr>
              <a:t>Patients or hospitals can submit blood requests. </a:t>
            </a:r>
          </a:p>
          <a:p>
            <a:pPr lvl="0"/>
            <a:r>
              <a:rPr lang="en-US" dirty="0">
                <a:latin typeface="Times New Roman" panose="02020603050405020304" pitchFamily="18" charset="0"/>
                <a:cs typeface="Times New Roman" panose="02020603050405020304" pitchFamily="18" charset="0"/>
              </a:rPr>
              <a:t>The system helps connect suitable donors with people in need. </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lnSpcReduction="10000"/>
          </a:bodyPr>
          <a:lstStyle/>
          <a:p>
            <a:pPr lvl="0"/>
            <a:r>
              <a:rPr lang="en-US" dirty="0">
                <a:latin typeface="Times New Roman" panose="02020603050405020304" pitchFamily="18" charset="0"/>
                <a:cs typeface="Times New Roman" panose="02020603050405020304" pitchFamily="18" charset="0"/>
              </a:rPr>
              <a:t>Blood availability is often checked by contacting blood banks manually. </a:t>
            </a:r>
          </a:p>
          <a:p>
            <a:pPr lvl="0"/>
            <a:r>
              <a:rPr lang="en-US" dirty="0">
                <a:latin typeface="Times New Roman" panose="02020603050405020304" pitchFamily="18" charset="0"/>
                <a:cs typeface="Times New Roman" panose="02020603050405020304" pitchFamily="18" charset="0"/>
              </a:rPr>
              <a:t>Donor information may be maintained using registers or separate databases. </a:t>
            </a:r>
          </a:p>
          <a:p>
            <a:pPr lvl="0"/>
            <a:r>
              <a:rPr lang="en-US" dirty="0">
                <a:latin typeface="Times New Roman" panose="02020603050405020304" pitchFamily="18" charset="0"/>
                <a:cs typeface="Times New Roman" panose="02020603050405020304" pitchFamily="18" charset="0"/>
              </a:rPr>
              <a:t>Finding nearby compatible donors can take considerable time. </a:t>
            </a:r>
          </a:p>
          <a:p>
            <a:pPr lvl="0"/>
            <a:r>
              <a:rPr lang="en-US" dirty="0">
                <a:latin typeface="Times New Roman" panose="02020603050405020304" pitchFamily="18" charset="0"/>
                <a:cs typeface="Times New Roman" panose="02020603050405020304" pitchFamily="18" charset="0"/>
              </a:rPr>
              <a:t>Emergency blood requests may depend on phone calls and personal contacts. </a:t>
            </a:r>
          </a:p>
          <a:p>
            <a:pPr lvl="0"/>
            <a:r>
              <a:rPr lang="en-US" dirty="0">
                <a:latin typeface="Times New Roman" panose="02020603050405020304" pitchFamily="18" charset="0"/>
                <a:cs typeface="Times New Roman" panose="02020603050405020304" pitchFamily="18" charset="0"/>
              </a:rPr>
              <a:t>There is limited centralized information about donors and blood availability. </a:t>
            </a:r>
          </a:p>
          <a:p>
            <a:pPr lvl="0"/>
            <a:r>
              <a:rPr lang="en-US" dirty="0">
                <a:latin typeface="Times New Roman" panose="02020603050405020304" pitchFamily="18" charset="0"/>
                <a:cs typeface="Times New Roman" panose="02020603050405020304" pitchFamily="18" charset="0"/>
              </a:rPr>
              <a:t>Maintaining updated donor and stock information can be difficult.</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838200" y="1690688"/>
            <a:ext cx="10515600" cy="4351338"/>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During medical emergencies, patients and hospitals may struggle to find the required blood group quickly.</a:t>
            </a:r>
          </a:p>
          <a:p>
            <a:pPr algn="just"/>
            <a:r>
              <a:rPr lang="en-US" dirty="0">
                <a:latin typeface="Times New Roman" panose="02020603050405020304" pitchFamily="18" charset="0"/>
                <a:cs typeface="Times New Roman" panose="02020603050405020304" pitchFamily="18" charset="0"/>
              </a:rPr>
              <a:t>The major problems are:</a:t>
            </a:r>
          </a:p>
          <a:p>
            <a:pPr lvl="0" algn="just"/>
            <a:r>
              <a:rPr lang="en-US" dirty="0">
                <a:latin typeface="Times New Roman" panose="02020603050405020304" pitchFamily="18" charset="0"/>
                <a:cs typeface="Times New Roman" panose="02020603050405020304" pitchFamily="18" charset="0"/>
              </a:rPr>
              <a:t>Difficulty in locating nearby compatible donors. </a:t>
            </a:r>
          </a:p>
          <a:p>
            <a:pPr lvl="0" algn="just"/>
            <a:r>
              <a:rPr lang="en-US" dirty="0">
                <a:latin typeface="Times New Roman" panose="02020603050405020304" pitchFamily="18" charset="0"/>
                <a:cs typeface="Times New Roman" panose="02020603050405020304" pitchFamily="18" charset="0"/>
              </a:rPr>
              <a:t>Lack of centralized donor information. </a:t>
            </a:r>
          </a:p>
          <a:p>
            <a:pPr lvl="0" algn="just"/>
            <a:r>
              <a:rPr lang="en-US" dirty="0">
                <a:latin typeface="Times New Roman" panose="02020603050405020304" pitchFamily="18" charset="0"/>
                <a:cs typeface="Times New Roman" panose="02020603050405020304" pitchFamily="18" charset="0"/>
              </a:rPr>
              <a:t>Difficulty checking real-time blood availability. </a:t>
            </a:r>
          </a:p>
          <a:p>
            <a:pPr lvl="0" algn="just"/>
            <a:r>
              <a:rPr lang="en-US" dirty="0">
                <a:latin typeface="Times New Roman" panose="02020603050405020304" pitchFamily="18" charset="0"/>
                <a:cs typeface="Times New Roman" panose="02020603050405020304" pitchFamily="18" charset="0"/>
              </a:rPr>
              <a:t>Manual communication between donors, patients, and blood banks. </a:t>
            </a:r>
          </a:p>
          <a:p>
            <a:pPr lvl="0" algn="just"/>
            <a:r>
              <a:rPr lang="en-US" dirty="0">
                <a:latin typeface="Times New Roman" panose="02020603050405020304" pitchFamily="18" charset="0"/>
                <a:cs typeface="Times New Roman" panose="02020603050405020304" pitchFamily="18" charset="0"/>
              </a:rPr>
              <a:t>Delays in emergency blood requests. </a:t>
            </a:r>
          </a:p>
          <a:p>
            <a:pPr lvl="0" algn="just"/>
            <a:r>
              <a:rPr lang="en-US" dirty="0">
                <a:latin typeface="Times New Roman" panose="02020603050405020304" pitchFamily="18" charset="0"/>
                <a:cs typeface="Times New Roman" panose="02020603050405020304" pitchFamily="18" charset="0"/>
              </a:rPr>
              <a:t>Difficulty maintaining accurate donor and blood-stock records.</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838200" y="1382214"/>
            <a:ext cx="10515600" cy="5339261"/>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The proposed system provides a centralized digital platform for managing blood donors, blood requests, and blood-bank inventory.</a:t>
            </a:r>
          </a:p>
          <a:p>
            <a:pPr marL="0" indent="0">
              <a:buNone/>
            </a:pPr>
            <a:r>
              <a:rPr lang="en-US" b="1" dirty="0">
                <a:latin typeface="Times New Roman" panose="02020603050405020304" pitchFamily="18" charset="0"/>
                <a:cs typeface="Times New Roman" panose="02020603050405020304" pitchFamily="18" charset="0"/>
              </a:rPr>
              <a:t>Key Contributions:</a:t>
            </a:r>
          </a:p>
          <a:p>
            <a:pPr lvl="0"/>
            <a:r>
              <a:rPr lang="en-US" dirty="0">
                <a:latin typeface="Times New Roman" panose="02020603050405020304" pitchFamily="18" charset="0"/>
                <a:cs typeface="Times New Roman" panose="02020603050405020304" pitchFamily="18" charset="0"/>
              </a:rPr>
              <a:t>Online donor registration. </a:t>
            </a:r>
          </a:p>
          <a:p>
            <a:pPr lvl="0"/>
            <a:r>
              <a:rPr lang="en-US" dirty="0">
                <a:latin typeface="Times New Roman" panose="02020603050405020304" pitchFamily="18" charset="0"/>
                <a:cs typeface="Times New Roman" panose="02020603050405020304" pitchFamily="18" charset="0"/>
              </a:rPr>
              <a:t>Blood-group-based donor search. </a:t>
            </a:r>
          </a:p>
          <a:p>
            <a:pPr lvl="0"/>
            <a:r>
              <a:rPr lang="en-US" dirty="0">
                <a:latin typeface="Times New Roman" panose="02020603050405020304" pitchFamily="18" charset="0"/>
                <a:cs typeface="Times New Roman" panose="02020603050405020304" pitchFamily="18" charset="0"/>
              </a:rPr>
              <a:t>Location-based donor identification. </a:t>
            </a:r>
          </a:p>
          <a:p>
            <a:pPr lvl="0"/>
            <a:r>
              <a:rPr lang="en-US" dirty="0">
                <a:latin typeface="Times New Roman" panose="02020603050405020304" pitchFamily="18" charset="0"/>
                <a:cs typeface="Times New Roman" panose="02020603050405020304" pitchFamily="18" charset="0"/>
              </a:rPr>
              <a:t>Blood-bank inventory management. </a:t>
            </a:r>
          </a:p>
          <a:p>
            <a:pPr lvl="0"/>
            <a:r>
              <a:rPr lang="en-US" dirty="0">
                <a:latin typeface="Times New Roman" panose="02020603050405020304" pitchFamily="18" charset="0"/>
                <a:cs typeface="Times New Roman" panose="02020603050405020304" pitchFamily="18" charset="0"/>
              </a:rPr>
              <a:t>Blood request management. </a:t>
            </a:r>
          </a:p>
          <a:p>
            <a:pPr lvl="0"/>
            <a:r>
              <a:rPr lang="en-US" dirty="0">
                <a:latin typeface="Times New Roman" panose="02020603050405020304" pitchFamily="18" charset="0"/>
                <a:cs typeface="Times New Roman" panose="02020603050405020304" pitchFamily="18" charset="0"/>
              </a:rPr>
              <a:t>Donor availability tracking. </a:t>
            </a:r>
          </a:p>
          <a:p>
            <a:pPr lvl="0"/>
            <a:r>
              <a:rPr lang="en-US" dirty="0">
                <a:latin typeface="Times New Roman" panose="02020603050405020304" pitchFamily="18" charset="0"/>
                <a:cs typeface="Times New Roman" panose="02020603050405020304" pitchFamily="18" charset="0"/>
              </a:rPr>
              <a:t>Emergency blood request support.</a:t>
            </a:r>
          </a:p>
          <a:p>
            <a:pPr marL="0" lvl="0" indent="0">
              <a:buNone/>
            </a:pPr>
            <a:r>
              <a:rPr lang="en-US" b="1" dirty="0">
                <a:latin typeface="Times New Roman" panose="02020603050405020304" pitchFamily="18" charset="0"/>
                <a:cs typeface="Times New Roman" panose="02020603050405020304" pitchFamily="18" charset="0"/>
              </a:rPr>
              <a:t>Main Contribution:</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reduces the time required to locate suitable blood donors by combining blood-group matching with location-based searching.</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lnSpcReduction="10000"/>
          </a:bodyPr>
          <a:lstStyle/>
          <a:p>
            <a:pPr lvl="0"/>
            <a:r>
              <a:rPr lang="en-US" dirty="0">
                <a:latin typeface="Times New Roman" panose="02020603050405020304" pitchFamily="18" charset="0"/>
                <a:cs typeface="Times New Roman" panose="02020603050405020304" pitchFamily="18" charset="0"/>
              </a:rPr>
              <a:t>To develop a centralized blood donor management system. </a:t>
            </a:r>
          </a:p>
          <a:p>
            <a:pPr lvl="0"/>
            <a:r>
              <a:rPr lang="en-US" dirty="0">
                <a:latin typeface="Times New Roman" panose="02020603050405020304" pitchFamily="18" charset="0"/>
                <a:cs typeface="Times New Roman" panose="02020603050405020304" pitchFamily="18" charset="0"/>
              </a:rPr>
              <a:t>To provide quick donor search based on blood group. </a:t>
            </a:r>
          </a:p>
          <a:p>
            <a:pPr lvl="0"/>
            <a:r>
              <a:rPr lang="en-US" dirty="0">
                <a:latin typeface="Times New Roman" panose="02020603050405020304" pitchFamily="18" charset="0"/>
                <a:cs typeface="Times New Roman" panose="02020603050405020304" pitchFamily="18" charset="0"/>
              </a:rPr>
              <a:t>To identify donors based on geographical location. </a:t>
            </a:r>
          </a:p>
          <a:p>
            <a:pPr lvl="0"/>
            <a:r>
              <a:rPr lang="en-US" dirty="0">
                <a:latin typeface="Times New Roman" panose="02020603050405020304" pitchFamily="18" charset="0"/>
                <a:cs typeface="Times New Roman" panose="02020603050405020304" pitchFamily="18" charset="0"/>
              </a:rPr>
              <a:t>To maintain blood-bank inventory records. </a:t>
            </a:r>
          </a:p>
          <a:p>
            <a:pPr lvl="0"/>
            <a:r>
              <a:rPr lang="en-US" dirty="0">
                <a:latin typeface="Times New Roman" panose="02020603050405020304" pitchFamily="18" charset="0"/>
                <a:cs typeface="Times New Roman" panose="02020603050405020304" pitchFamily="18" charset="0"/>
              </a:rPr>
              <a:t>To allow users to submit blood requests online. </a:t>
            </a:r>
          </a:p>
          <a:p>
            <a:pPr lvl="0"/>
            <a:r>
              <a:rPr lang="en-US" dirty="0">
                <a:latin typeface="Times New Roman" panose="02020603050405020304" pitchFamily="18" charset="0"/>
                <a:cs typeface="Times New Roman" panose="02020603050405020304" pitchFamily="18" charset="0"/>
              </a:rPr>
              <a:t>To improve communication between donors and blood seekers. </a:t>
            </a:r>
          </a:p>
          <a:p>
            <a:pPr lvl="0"/>
            <a:r>
              <a:rPr lang="en-US" dirty="0">
                <a:latin typeface="Times New Roman" panose="02020603050405020304" pitchFamily="18" charset="0"/>
                <a:cs typeface="Times New Roman" panose="02020603050405020304" pitchFamily="18" charset="0"/>
              </a:rPr>
              <a:t>To reduce the time required to find suitable blood. </a:t>
            </a:r>
          </a:p>
          <a:p>
            <a:pPr lvl="0"/>
            <a:r>
              <a:rPr lang="en-US" dirty="0">
                <a:latin typeface="Times New Roman" panose="02020603050405020304" pitchFamily="18" charset="0"/>
                <a:cs typeface="Times New Roman" panose="02020603050405020304" pitchFamily="18" charset="0"/>
              </a:rPr>
              <a:t>To support emergency blood requirements. </a:t>
            </a:r>
          </a:p>
          <a:p>
            <a:pPr lvl="0"/>
            <a:r>
              <a:rPr lang="en-US" dirty="0">
                <a:latin typeface="Times New Roman" panose="02020603050405020304" pitchFamily="18" charset="0"/>
                <a:cs typeface="Times New Roman" panose="02020603050405020304" pitchFamily="18" charset="0"/>
              </a:rPr>
              <a:t>To maintain organized and easily accessible records.</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a:xfrm>
            <a:off x="838200" y="257691"/>
            <a:ext cx="10515600" cy="1325563"/>
          </a:xfrm>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838200" y="1583254"/>
            <a:ext cx="10515600" cy="4351338"/>
          </a:xfrm>
        </p:spPr>
        <p:txBody>
          <a:bodyPr>
            <a:normAutofit fontScale="77500" lnSpcReduction="20000"/>
          </a:bodyPr>
          <a:lstStyle/>
          <a:p>
            <a:r>
              <a:rPr lang="en-US" b="1" dirty="0"/>
              <a:t>Module 1 – Relational Database Engineering (CO1)</a:t>
            </a:r>
            <a:endParaRPr lang="en-US" dirty="0"/>
          </a:p>
          <a:p>
            <a:pPr lvl="0"/>
            <a:r>
              <a:rPr lang="en-US" dirty="0"/>
              <a:t>RDBMS &amp; Database Design </a:t>
            </a:r>
          </a:p>
          <a:p>
            <a:pPr lvl="0"/>
            <a:r>
              <a:rPr lang="en-US" dirty="0"/>
              <a:t>ER Diagram &amp; Normalization </a:t>
            </a:r>
          </a:p>
          <a:p>
            <a:pPr lvl="0"/>
            <a:r>
              <a:rPr lang="en-US" dirty="0"/>
              <a:t>Donor &amp; Blood Bank Management </a:t>
            </a:r>
          </a:p>
          <a:p>
            <a:pPr lvl="0"/>
            <a:r>
              <a:rPr lang="en-US" dirty="0"/>
              <a:t>Blood Request &amp; Inventory Management </a:t>
            </a:r>
          </a:p>
          <a:p>
            <a:pPr lvl="0"/>
            <a:r>
              <a:rPr lang="en-US" dirty="0"/>
              <a:t>SQL Queries, Joins &amp; Transactions </a:t>
            </a:r>
          </a:p>
          <a:p>
            <a:r>
              <a:rPr lang="en-US" b="1" dirty="0"/>
              <a:t>Module 2 – Database Engineering (CO2)</a:t>
            </a:r>
            <a:endParaRPr lang="en-US" dirty="0"/>
          </a:p>
          <a:p>
            <a:pPr lvl="0"/>
            <a:r>
              <a:rPr lang="en-US" dirty="0"/>
              <a:t>SQL &amp; NoSQL Concepts </a:t>
            </a:r>
          </a:p>
          <a:p>
            <a:pPr lvl="0"/>
            <a:r>
              <a:rPr lang="en-US" dirty="0"/>
              <a:t>MongoDB &amp; CRUD Operations </a:t>
            </a:r>
          </a:p>
          <a:p>
            <a:pPr lvl="0"/>
            <a:r>
              <a:rPr lang="en-US" dirty="0"/>
              <a:t>Donor Locator &amp; Blood Search </a:t>
            </a:r>
          </a:p>
          <a:p>
            <a:pPr lvl="0"/>
            <a:r>
              <a:rPr lang="en-US" dirty="0"/>
              <a:t>Aggregation &amp; Reporting </a:t>
            </a:r>
          </a:p>
          <a:p>
            <a:pPr lvl="0"/>
            <a:r>
              <a:rPr lang="en-US" dirty="0"/>
              <a:t>Indexing &amp; Data Management</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lstStyle/>
          <a:p>
            <a:pPr lvl="0"/>
            <a:r>
              <a:rPr lang="en-US" b="1" dirty="0"/>
              <a:t>Operating System:</a:t>
            </a:r>
            <a:r>
              <a:rPr lang="en-US" dirty="0"/>
              <a:t> Windows / Linux </a:t>
            </a:r>
          </a:p>
          <a:p>
            <a:pPr lvl="0"/>
            <a:r>
              <a:rPr lang="en-US" b="1" dirty="0"/>
              <a:t>Database:</a:t>
            </a:r>
            <a:r>
              <a:rPr lang="en-US" dirty="0"/>
              <a:t> MySQL / PostgreSQL </a:t>
            </a:r>
          </a:p>
          <a:p>
            <a:pPr lvl="0"/>
            <a:r>
              <a:rPr lang="en-US" b="1" dirty="0"/>
              <a:t>NoSQL Database:</a:t>
            </a:r>
            <a:r>
              <a:rPr lang="en-US" dirty="0"/>
              <a:t> MongoDB </a:t>
            </a:r>
          </a:p>
          <a:p>
            <a:pPr lvl="0"/>
            <a:r>
              <a:rPr lang="en-US" b="1" dirty="0"/>
              <a:t>Programming Language:</a:t>
            </a:r>
            <a:r>
              <a:rPr lang="en-US" dirty="0"/>
              <a:t> SQL </a:t>
            </a:r>
          </a:p>
          <a:p>
            <a:pPr lvl="0"/>
            <a:r>
              <a:rPr lang="en-US" b="1" dirty="0"/>
              <a:t>Development Tool:</a:t>
            </a:r>
            <a:r>
              <a:rPr lang="en-US" dirty="0"/>
              <a:t> VS Code </a:t>
            </a:r>
          </a:p>
          <a:p>
            <a:pPr lvl="0"/>
            <a:r>
              <a:rPr lang="en-US" b="1" dirty="0"/>
              <a:t>Database Tools:</a:t>
            </a:r>
            <a:r>
              <a:rPr lang="en-US" dirty="0"/>
              <a:t> MySQL Workbench / MongoDB Compass </a:t>
            </a:r>
          </a:p>
          <a:p>
            <a:pPr lvl="0"/>
            <a:r>
              <a:rPr lang="en-US" b="1" dirty="0"/>
              <a:t>Version Control:</a:t>
            </a:r>
            <a:r>
              <a:rPr lang="en-US" dirty="0"/>
              <a:t> Git &amp; GitHub</a:t>
            </a:r>
          </a:p>
          <a:p>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49CF8CEB-28D0-30F6-BB61-CEB08AE4ECD8}"/>
              </a:ext>
            </a:extLst>
          </p:cNvPr>
          <p:cNvSpPr txBox="1"/>
          <p:nvPr/>
        </p:nvSpPr>
        <p:spPr>
          <a:xfrm>
            <a:off x="539827" y="1299990"/>
            <a:ext cx="10256703" cy="5539978"/>
          </a:xfrm>
          <a:prstGeom prst="rect">
            <a:avLst/>
          </a:prstGeom>
          <a:noFill/>
        </p:spPr>
        <p:txBody>
          <a:bodyPr wrap="square" rtlCol="0">
            <a:spAutoFit/>
          </a:bodyPr>
          <a:lstStyle/>
          <a:p>
            <a:r>
              <a:rPr lang="en-US" sz="2400" b="1" dirty="0"/>
              <a:t>Conclusion</a:t>
            </a:r>
          </a:p>
          <a:p>
            <a:pPr algn="just"/>
            <a:r>
              <a:rPr lang="en-US" sz="2400" dirty="0">
                <a:latin typeface="Times New Roman" panose="02020603050405020304" pitchFamily="18" charset="0"/>
                <a:cs typeface="Times New Roman" panose="02020603050405020304" pitchFamily="18" charset="0"/>
              </a:rPr>
              <a:t>The Smart Blood Bank and Donor Locator Management System provides a centralized DBMS-based platform to manage donors, blood requests and blood-bank inventory. It helps users find suitable donors based on blood group and location, improving the efficiency of blood management and reducing delays during emergencies</a:t>
            </a:r>
            <a:r>
              <a:rPr lang="en-US" sz="2400" dirty="0"/>
              <a:t>.</a:t>
            </a:r>
          </a:p>
          <a:p>
            <a:r>
              <a:rPr lang="en-US" sz="2400" b="1" dirty="0">
                <a:latin typeface="Times New Roman" panose="02020603050405020304" pitchFamily="18" charset="0"/>
                <a:cs typeface="Times New Roman" panose="02020603050405020304" pitchFamily="18" charset="0"/>
              </a:rPr>
              <a:t>Future Scope</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GPS-based real-time donor locator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Emergency blood request notifications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Real-time blood-stock updates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Mobile application development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Hospital and blood-bank integration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Data analytics and demand prediction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Cloud-based deployment</a:t>
            </a:r>
          </a:p>
          <a:p>
            <a:endParaRPr lang="en-US"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8328</TotalTime>
  <Words>778</Words>
  <Application>Microsoft Office PowerPoint</Application>
  <PresentationFormat>Widescreen</PresentationFormat>
  <Paragraphs>146</Paragraphs>
  <Slides>12</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Calibri</vt:lpstr>
      <vt:lpstr>Calibri Light</vt:lpstr>
      <vt:lpstr>Times New Roman</vt:lpstr>
      <vt:lpstr>Wingdings</vt:lpstr>
      <vt:lpstr>Office Theme</vt:lpstr>
      <vt:lpstr>Custom Design</vt:lpstr>
      <vt:lpstr> 1st  REVIEW Smart Blood Bank and Donor Locator Management System </vt:lpstr>
      <vt:lpstr>GROUP NUMBER:13</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Siva Kishore Kanakamedala</cp:lastModifiedBy>
  <cp:revision>94</cp:revision>
  <dcterms:created xsi:type="dcterms:W3CDTF">2022-05-20T10:20:31Z</dcterms:created>
  <dcterms:modified xsi:type="dcterms:W3CDTF">2026-08-20T05:07:38Z</dcterms:modified>
</cp:coreProperties>
</file>